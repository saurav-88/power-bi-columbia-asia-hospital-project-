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2" r:id="rId3"/>
    <p:sldId id="260" r:id="rId4"/>
    <p:sldId id="279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2" r:id="rId14"/>
    <p:sldId id="270" r:id="rId15"/>
    <p:sldId id="273" r:id="rId16"/>
    <p:sldId id="274" r:id="rId17"/>
    <p:sldId id="275" r:id="rId18"/>
    <p:sldId id="276" r:id="rId19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E8B0B-3E1C-5E99-078D-39D917C1D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B1582B-E4D6-1ECA-00F3-69E452CDCA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8CB11-47FB-CF0C-A5B6-B742E351B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E7A8E-66D6-49A7-B342-84AF14D79642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A5926-40EC-6E60-19F1-C580CF672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A543C-63F0-151E-B9E5-2616D1E15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29D41-CBEC-4125-8D05-50983215C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4409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FF572-A955-05C2-E631-E50A79438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F1D88-52C4-5926-DECD-FA33A8DF0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F585D-0DF5-51A2-B4BF-905BA3A7D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E7A8E-66D6-49A7-B342-84AF14D79642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FB273-9A8D-E08C-5FAC-201BCCC6B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59E96-CAA7-CF32-F254-81BC3325B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29D41-CBEC-4125-8D05-50983215C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2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17FF7-11CB-8BFD-89CA-8FDA52AC7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914D1-4818-07D7-7FB8-30C1CA5AC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57829-0767-2442-C6B1-0BA4379DC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E7A8E-66D6-49A7-B342-84AF14D79642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5FF4F-B5F0-A4C8-B5D4-1DE96F8D8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CD5E6-88C5-FBC1-C11C-064532469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29D41-CBEC-4125-8D05-50983215C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2543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1C617-C66F-E8A4-9250-3606D7256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1B15D-9867-FDAE-2A21-CA1B6D28BA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86D126-E358-422B-B164-0E29B7A3C2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3B61E4-7791-E8F9-DCCA-E7B3C2721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E7A8E-66D6-49A7-B342-84AF14D79642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BD05B-E458-4D6D-8BDA-2AAEB689C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AA157B-49F4-86DA-279F-34BEADC84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29D41-CBEC-4125-8D05-50983215C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4126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384CB-2D17-A89A-FD15-4FAC4F0D1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EF7C7-F2EF-2AA1-E2C5-2499A7EEA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25DB08-6171-04C0-497C-5816F10EE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E96D0F-4B4B-71ED-0DF9-31425B6F24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554B13-A27A-B903-36D1-66C67A4054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5F76B9-CCE6-7F39-9375-43D79C9B0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E7A8E-66D6-49A7-B342-84AF14D79642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7B8339-85EA-B3BC-744B-2F6C55401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AD389F-3E23-00BD-481F-FF0A7133D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29D41-CBEC-4125-8D05-50983215C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826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3143C-D46E-5419-AE40-49D6E6B70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23BC26-2643-028A-3DE7-E2DFC5F32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E7A8E-66D6-49A7-B342-84AF14D79642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3A2DAB-ADF9-11C8-708B-EB7F4DC7F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538884-DE08-4741-1389-40AD7E141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29D41-CBEC-4125-8D05-50983215C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99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B9670D-91EB-C020-7E13-31853C7DC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E7A8E-66D6-49A7-B342-84AF14D79642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7E8CAA-D097-4A97-3908-8863B50D9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86C70-2F9F-4D44-9F8B-FEF345A2B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29D41-CBEC-4125-8D05-50983215C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7832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89A0F-B050-B5E6-1AE0-557D12503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87747-5AF5-48BB-1E8C-DE2365496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2BB83B-4F60-4037-9653-8508129F04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363C9B-A93F-1B01-7A61-B4A79A5E4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E7A8E-66D6-49A7-B342-84AF14D79642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A731A3-2514-FF01-9D68-99DA366BD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DA793-AA00-81D5-C206-03B3B0969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29D41-CBEC-4125-8D05-50983215C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39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06EF4-A0B1-E968-0EEA-1D5D7C63F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6D85B9-3CDC-6441-9744-5D80026A6F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D1F00-57D3-0144-FE47-9F1EB88F2E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7E0774-4538-2C5D-7698-0A8E8F60D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E7A8E-66D6-49A7-B342-84AF14D79642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D8EE54-0055-3675-0082-6F4CEB532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9A03FB-7C4A-2041-DC47-B5D441511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29D41-CBEC-4125-8D05-50983215C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52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2975A-0A60-F385-FA14-56FD76140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BC5889-6F86-8026-2FDD-B0CE6BFAD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15EEC-23CE-296C-E6A2-3A6FD3975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E7A8E-66D6-49A7-B342-84AF14D79642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A2CA3-0BAF-17EC-B6D7-7D14BBEF5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C1E9E-A564-AB41-95E7-824B9C1F6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29D41-CBEC-4125-8D05-50983215C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437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2C7B06-DC83-1B74-5C88-3814D3D81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39D9A0-C27E-188A-45E8-8DC1C2D4A5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897B4-1465-1E67-210E-61284EE84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E7A8E-66D6-49A7-B342-84AF14D79642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DA66F-79B2-47A9-0657-450262B56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02B1D-B21A-6CA8-E91A-15FF799CE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29D41-CBEC-4125-8D05-50983215C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647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4000">
              <a:srgbClr val="FBFCFE"/>
            </a:gs>
            <a:gs pos="5000">
              <a:schemeClr val="accent1">
                <a:lumMod val="5000"/>
                <a:lumOff val="95000"/>
              </a:schemeClr>
            </a:gs>
            <a:gs pos="93000">
              <a:schemeClr val="bg1"/>
            </a:gs>
            <a:gs pos="100000">
              <a:srgbClr val="C00000"/>
            </a:gs>
            <a:gs pos="100000">
              <a:schemeClr val="accent1">
                <a:lumMod val="32000"/>
                <a:lumOff val="68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2FD8B7-1810-715C-1985-0A9E3CC7D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F9A22B-C159-DBC5-91F7-71683E466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C71A4-5AD9-03AE-1C8F-18839432BF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9E7A8E-66D6-49A7-B342-84AF14D79642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EA626-948E-FF16-048F-F7D6AB48B5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76817-B2C1-9B2D-9AAC-7F5DFDF471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029D41-CBEC-4125-8D05-50983215C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001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CBC06-02B8-66AB-4BDD-3633542475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5909" y="373626"/>
            <a:ext cx="5594555" cy="3055374"/>
          </a:xfrm>
        </p:spPr>
        <p:txBody>
          <a:bodyPr/>
          <a:lstStyle/>
          <a:p>
            <a:pPr algn="l"/>
            <a:r>
              <a:rPr lang="en-IN" b="1" dirty="0">
                <a:latin typeface="Constantia" panose="02030602050306030303" pitchFamily="18" charset="0"/>
              </a:rPr>
              <a:t>Columbia Asia Hospital Project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8200BE-D13B-706F-6C34-5AD26F9BA1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457445"/>
            <a:ext cx="7482348" cy="1655762"/>
          </a:xfrm>
        </p:spPr>
        <p:txBody>
          <a:bodyPr/>
          <a:lstStyle/>
          <a:p>
            <a:r>
              <a:rPr lang="en-IN" dirty="0"/>
              <a:t>Power BI Project</a:t>
            </a:r>
          </a:p>
          <a:p>
            <a:r>
              <a:rPr lang="en-IN" dirty="0"/>
              <a:t>by Saurabh Sharma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1AE18EA5-C553-2FBA-C01B-7721A71BB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5966" y="829700"/>
            <a:ext cx="4810125" cy="3971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2507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D1C61-0D48-0D6F-B109-50B1D7ACC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75281"/>
          </a:xfrm>
        </p:spPr>
        <p:txBody>
          <a:bodyPr/>
          <a:lstStyle/>
          <a:p>
            <a:pPr algn="ctr"/>
            <a:r>
              <a:rPr lang="en-IN" b="1" dirty="0">
                <a:latin typeface="+mn-lt"/>
              </a:rPr>
              <a:t>AGENDA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DD2D0-7EF4-7C32-BD09-01B78A730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337187"/>
            <a:ext cx="10058400" cy="4531907"/>
          </a:xfrm>
        </p:spPr>
        <p:txBody>
          <a:bodyPr>
            <a:normAutofit/>
          </a:bodyPr>
          <a:lstStyle/>
          <a:p>
            <a:r>
              <a:rPr lang="en-IN" sz="2400" dirty="0"/>
              <a:t>PROBLEM STATEMENT</a:t>
            </a:r>
          </a:p>
          <a:p>
            <a:r>
              <a:rPr lang="en-IN" sz="2400" dirty="0"/>
              <a:t>DATA DESCRIPTION</a:t>
            </a:r>
          </a:p>
          <a:p>
            <a:r>
              <a:rPr lang="en-IN" sz="2400" dirty="0"/>
              <a:t>ANALYSIS OBJECTIVES</a:t>
            </a:r>
          </a:p>
          <a:p>
            <a:r>
              <a:rPr lang="en-IN" sz="2400" dirty="0"/>
              <a:t>MAIN DASHBOARD</a:t>
            </a:r>
          </a:p>
          <a:p>
            <a:r>
              <a:rPr lang="en-IN" sz="2400" dirty="0"/>
              <a:t>DOCTORS</a:t>
            </a:r>
            <a:r>
              <a:rPr lang="en-IN" sz="2400" b="1" dirty="0"/>
              <a:t> </a:t>
            </a:r>
            <a:r>
              <a:rPr lang="en-IN" sz="2400" dirty="0"/>
              <a:t>DASHBOARD</a:t>
            </a:r>
            <a:endParaRPr lang="en-IN" sz="2400" b="1" dirty="0"/>
          </a:p>
          <a:p>
            <a:r>
              <a:rPr lang="en-IN" sz="2400" dirty="0"/>
              <a:t>PATIENTS DASHBOARD</a:t>
            </a:r>
          </a:p>
          <a:p>
            <a:r>
              <a:rPr lang="en-IN" sz="2400" dirty="0"/>
              <a:t>CONCLUSION</a:t>
            </a:r>
            <a:br>
              <a:rPr lang="en-IN" sz="2400" b="1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02516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C1F4A-E7EE-F6D1-5142-7B028C03D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587" y="99791"/>
            <a:ext cx="10457590" cy="1450757"/>
          </a:xfrm>
        </p:spPr>
        <p:txBody>
          <a:bodyPr/>
          <a:lstStyle/>
          <a:p>
            <a:pPr algn="ctr"/>
            <a:r>
              <a:rPr lang="en-IN" b="1" dirty="0">
                <a:latin typeface="+mn-lt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8F4D6-6CAD-DB5E-9810-8F72A8CC1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29" y="1877963"/>
            <a:ext cx="10457590" cy="2369574"/>
          </a:xfrm>
        </p:spPr>
        <p:txBody>
          <a:bodyPr>
            <a:noAutofit/>
          </a:bodyPr>
          <a:lstStyle/>
          <a:p>
            <a:r>
              <a:rPr lang="en-US" sz="2400" dirty="0"/>
              <a:t>You have been hired as a consultant data analyst by Columbia Asia Hospital. The Hospital is looking for key insights for the following objectives:</a:t>
            </a:r>
            <a:endParaRPr lang="en-US" sz="2400" b="0" dirty="0">
              <a:effectLst/>
            </a:endParaRPr>
          </a:p>
          <a:p>
            <a:pPr fontAlgn="base"/>
            <a:r>
              <a:rPr lang="en-US" sz="2400" dirty="0"/>
              <a:t>Assess the hospital's revenue generation</a:t>
            </a:r>
          </a:p>
          <a:p>
            <a:pPr fontAlgn="base"/>
            <a:r>
              <a:rPr lang="en-US" sz="2400" dirty="0"/>
              <a:t>Insights about suitable departments for new hires</a:t>
            </a:r>
          </a:p>
          <a:p>
            <a:pPr fontAlgn="base"/>
            <a:r>
              <a:rPr lang="en-US" sz="2400" dirty="0"/>
              <a:t>Strategies suggestions for patient discounts.</a:t>
            </a:r>
          </a:p>
          <a:p>
            <a:pPr fontAlgn="base"/>
            <a:r>
              <a:rPr lang="en-US" sz="2400" dirty="0"/>
              <a:t>Your task is to perform data analysis and come up with a report in order to help the organisation with the mentioned objectives.</a:t>
            </a:r>
            <a:endParaRPr lang="en-US" sz="2400" b="0" dirty="0">
              <a:effectLst/>
            </a:endParaRPr>
          </a:p>
          <a:p>
            <a:pPr marL="0" indent="0">
              <a:buNone/>
            </a:pPr>
            <a:br>
              <a:rPr lang="en-US" sz="240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41217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E8C3D-71F1-FD36-31BF-E2FAECDEC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974"/>
            <a:ext cx="10515600" cy="1012724"/>
          </a:xfrm>
        </p:spPr>
        <p:txBody>
          <a:bodyPr/>
          <a:lstStyle/>
          <a:p>
            <a:pPr algn="ctr"/>
            <a:r>
              <a:rPr lang="en-IN" b="1" dirty="0">
                <a:latin typeface="+mn-lt"/>
              </a:rPr>
              <a:t>PROBLEM STATEMENT</a:t>
            </a:r>
            <a:endParaRPr lang="en-IN" dirty="0">
              <a:latin typeface="+mn-lt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A3C717D-33A5-7B14-0784-96DE2CEDD90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06" y="1366223"/>
            <a:ext cx="11962900" cy="4975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1582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EF32A-B6AF-82AC-6A62-4C0090F44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+mn-lt"/>
              </a:rPr>
              <a:t>DATA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2F3EE-6206-B33B-79BE-431AE4919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Date – Patient visit date and time</a:t>
            </a:r>
            <a:br>
              <a:rPr lang="en-US" sz="2400" dirty="0"/>
            </a:br>
            <a:r>
              <a:rPr lang="en-US" sz="2400" dirty="0"/>
              <a:t>• Patient ID – Unique identifier for each patient</a:t>
            </a:r>
            <a:br>
              <a:rPr lang="en-US" sz="2400" dirty="0"/>
            </a:br>
            <a:r>
              <a:rPr lang="en-US" sz="2400" dirty="0"/>
              <a:t>• Patient Gender – Male or Female</a:t>
            </a:r>
            <a:br>
              <a:rPr lang="en-US" sz="2400" dirty="0"/>
            </a:br>
            <a:r>
              <a:rPr lang="en-US" sz="2400" dirty="0"/>
              <a:t>• Patient Age – Age of the patient</a:t>
            </a:r>
            <a:br>
              <a:rPr lang="en-US" sz="2400" dirty="0"/>
            </a:br>
            <a:r>
              <a:rPr lang="en-US" sz="2400" dirty="0"/>
              <a:t>• Patient Patient Race – Demographic category of patient</a:t>
            </a:r>
            <a:br>
              <a:rPr lang="en-US" sz="2400" dirty="0"/>
            </a:br>
            <a:r>
              <a:rPr lang="en-US" sz="2400" dirty="0"/>
              <a:t>• Patient Wait Time – Time patient waited before treatment</a:t>
            </a:r>
            <a:br>
              <a:rPr lang="en-US" sz="2400" dirty="0"/>
            </a:br>
            <a:r>
              <a:rPr lang="en-US" sz="2400" dirty="0"/>
              <a:t>• Department Referral – Department assigned to patient</a:t>
            </a:r>
            <a:br>
              <a:rPr lang="en-US" sz="2400" dirty="0"/>
            </a:br>
            <a:r>
              <a:rPr lang="en-US" sz="2400" dirty="0"/>
              <a:t>• Doctor Name – Doctor who treated the patient</a:t>
            </a:r>
            <a:br>
              <a:rPr lang="en-US" sz="2400" dirty="0"/>
            </a:br>
            <a:r>
              <a:rPr lang="en-US" sz="2400" dirty="0"/>
              <a:t>• Total Bill – Total revenue generated from </a:t>
            </a:r>
            <a:r>
              <a:rPr lang="en-US" sz="2400" dirty="0" err="1"/>
              <a:t>patientSatisfaction</a:t>
            </a:r>
            <a:r>
              <a:rPr lang="en-US" sz="2400" dirty="0"/>
              <a:t> Score – Rating given based on experience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23778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EFC5E-4F28-A003-94F9-279C74B8B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+mn-lt"/>
              </a:rPr>
              <a:t>Analysis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929A8-869B-70B9-4D22-BA8ECD421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Monthly Patient Visits Analysis</a:t>
            </a:r>
          </a:p>
          <a:p>
            <a:r>
              <a:rPr lang="en-IN" sz="2400" dirty="0"/>
              <a:t>Wait Time vs Satisfaction</a:t>
            </a:r>
          </a:p>
          <a:p>
            <a:r>
              <a:rPr lang="en-IN" sz="2400" dirty="0"/>
              <a:t>Department-wise Patient Load </a:t>
            </a:r>
          </a:p>
          <a:p>
            <a:r>
              <a:rPr lang="en-IN" sz="2400" dirty="0"/>
              <a:t>Demographics Impact </a:t>
            </a:r>
          </a:p>
          <a:p>
            <a:r>
              <a:rPr lang="en-IN" sz="2400" dirty="0"/>
              <a:t>Discount Strategy</a:t>
            </a:r>
          </a:p>
          <a:p>
            <a:r>
              <a:rPr lang="en-IN" sz="2400" dirty="0"/>
              <a:t>Hiring Recommendation </a:t>
            </a:r>
          </a:p>
          <a:p>
            <a:r>
              <a:rPr lang="en-IN" sz="2400" dirty="0"/>
              <a:t>Profitability Analysis </a:t>
            </a:r>
          </a:p>
          <a:p>
            <a:r>
              <a:rPr lang="en-IN" sz="2400" dirty="0"/>
              <a:t>Doctor Shift Strategy</a:t>
            </a:r>
          </a:p>
        </p:txBody>
      </p:sp>
    </p:spTree>
    <p:extLst>
      <p:ext uri="{BB962C8B-B14F-4D97-AF65-F5344CB8AC3E}">
        <p14:creationId xmlns:p14="http://schemas.microsoft.com/office/powerpoint/2010/main" val="3477119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256ED-4A91-77D9-074A-15B4BDAB7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457200"/>
            <a:ext cx="10034689" cy="899652"/>
          </a:xfrm>
        </p:spPr>
        <p:txBody>
          <a:bodyPr>
            <a:normAutofit/>
          </a:bodyPr>
          <a:lstStyle/>
          <a:p>
            <a:pPr algn="ctr"/>
            <a:r>
              <a:rPr lang="en-IN" sz="4400" b="1" dirty="0">
                <a:latin typeface="+mn-lt"/>
              </a:rPr>
              <a:t>Monthly Patient Visits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0A9A71-7651-5F7F-0D0D-C132711A3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865262"/>
            <a:ext cx="4145167" cy="4083254"/>
          </a:xfrm>
        </p:spPr>
        <p:txBody>
          <a:bodyPr>
            <a:normAutofit/>
          </a:bodyPr>
          <a:lstStyle/>
          <a:p>
            <a:r>
              <a:rPr lang="en-US" sz="2400" dirty="0"/>
              <a:t>Patient visits fluctuate significantly across months</a:t>
            </a:r>
            <a:br>
              <a:rPr lang="en-US" sz="2400" dirty="0"/>
            </a:br>
            <a:r>
              <a:rPr lang="en-US" sz="2400" dirty="0"/>
              <a:t>• Peak visits observed in August (1024 patients)</a:t>
            </a:r>
            <a:br>
              <a:rPr lang="en-US" sz="2400" dirty="0"/>
            </a:br>
            <a:r>
              <a:rPr lang="en-US" sz="2400" dirty="0"/>
              <a:t>• Lowest visits recorded in February (431 patients)</a:t>
            </a:r>
            <a:br>
              <a:rPr lang="en-US" sz="2400" dirty="0"/>
            </a:br>
            <a:r>
              <a:rPr lang="en-US" sz="2400" dirty="0"/>
              <a:t>• Several months show decline compared to previous month</a:t>
            </a:r>
            <a:br>
              <a:rPr lang="en-US" sz="2400" dirty="0"/>
            </a:br>
            <a:r>
              <a:rPr lang="en-US" sz="2400" dirty="0"/>
              <a:t>• Overall trend indicates seasonal variation in hospital visits</a:t>
            </a:r>
            <a:endParaRPr lang="en-IN" sz="2400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10F7994-3E9E-F475-B4E1-B5A9333A92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54545" y="1707535"/>
            <a:ext cx="5919699" cy="4403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890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B7FA5-A91B-C424-31F7-7F6E5C34C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9926535" cy="820994"/>
          </a:xfrm>
        </p:spPr>
        <p:txBody>
          <a:bodyPr>
            <a:normAutofit/>
          </a:bodyPr>
          <a:lstStyle/>
          <a:p>
            <a:pPr algn="ctr"/>
            <a:r>
              <a:rPr lang="en-IN" sz="4400" b="1" dirty="0">
                <a:latin typeface="+mn-lt"/>
              </a:rPr>
              <a:t>Wait Time vs Satisfaction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4D0D68-0FDD-4F46-492F-BBAAF051A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3962" y="1568387"/>
            <a:ext cx="4418064" cy="4300601"/>
          </a:xfrm>
        </p:spPr>
        <p:txBody>
          <a:bodyPr>
            <a:noAutofit/>
          </a:bodyPr>
          <a:lstStyle/>
          <a:p>
            <a:r>
              <a:rPr lang="en-US" sz="2400" dirty="0"/>
              <a:t>Patient satisfaction varies with waiting time</a:t>
            </a:r>
            <a:br>
              <a:rPr lang="en-US" sz="2400" dirty="0"/>
            </a:br>
            <a:r>
              <a:rPr lang="en-US" sz="2400" dirty="0"/>
              <a:t>• Higher waiting time generally leads to lower satisfaction</a:t>
            </a:r>
            <a:br>
              <a:rPr lang="en-US" sz="2400" dirty="0"/>
            </a:br>
            <a:r>
              <a:rPr lang="en-US" sz="2400" dirty="0"/>
              <a:t>• Some outliers exist but overall negative trend is visible</a:t>
            </a:r>
            <a:br>
              <a:rPr lang="en-US" sz="2400" dirty="0"/>
            </a:br>
            <a:r>
              <a:rPr lang="en-US" sz="2400" dirty="0"/>
              <a:t>• Patients with shorter wait time show better satisfaction scores</a:t>
            </a:r>
            <a:br>
              <a:rPr lang="en-US" sz="2400" dirty="0"/>
            </a:br>
            <a:r>
              <a:rPr lang="en-US" sz="2400" dirty="0"/>
              <a:t>• Reducing waiting time can significantly improve patient experience</a:t>
            </a:r>
            <a:endParaRPr lang="en-IN" sz="2400" dirty="0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3810D50D-8296-3ED0-753F-E06C1A8A2A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14404" y="1490599"/>
            <a:ext cx="7380951" cy="430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379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7D921-59D5-5A02-9E18-070450B3C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457200"/>
            <a:ext cx="10093683" cy="781665"/>
          </a:xfrm>
        </p:spPr>
        <p:txBody>
          <a:bodyPr>
            <a:normAutofit/>
          </a:bodyPr>
          <a:lstStyle/>
          <a:p>
            <a:pPr algn="ctr"/>
            <a:r>
              <a:rPr lang="en-IN" sz="4400" b="1" dirty="0">
                <a:latin typeface="+mn-lt"/>
              </a:rPr>
              <a:t>Department-wise Patient Load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81CB4A-ACF6-030E-F44F-40C7AADC7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7084" y="1762433"/>
            <a:ext cx="4014941" cy="4106555"/>
          </a:xfrm>
        </p:spPr>
        <p:txBody>
          <a:bodyPr>
            <a:normAutofit fontScale="92500"/>
          </a:bodyPr>
          <a:lstStyle/>
          <a:p>
            <a:r>
              <a:rPr lang="en-US" dirty="0"/>
              <a:t>• </a:t>
            </a:r>
            <a:r>
              <a:rPr lang="en-US" sz="2400" dirty="0"/>
              <a:t>General Practice handles the highest number of patients (~7.2K)</a:t>
            </a:r>
            <a:br>
              <a:rPr lang="en-US" sz="2400" dirty="0"/>
            </a:br>
            <a:r>
              <a:rPr lang="en-US" sz="2400" dirty="0"/>
              <a:t>• Orthopedics is the second most visited department (~1K)</a:t>
            </a:r>
            <a:br>
              <a:rPr lang="en-US" sz="2400" dirty="0"/>
            </a:br>
            <a:r>
              <a:rPr lang="en-US" sz="2400" dirty="0"/>
              <a:t>• Other departments have significantly lower patient counts</a:t>
            </a:r>
            <a:br>
              <a:rPr lang="en-US" sz="2400" dirty="0"/>
            </a:br>
            <a:r>
              <a:rPr lang="en-US" sz="2400" dirty="0"/>
              <a:t>• Patient distribution is highly concentrated in one department</a:t>
            </a:r>
            <a:br>
              <a:rPr lang="en-US" sz="2400" dirty="0"/>
            </a:br>
            <a:r>
              <a:rPr lang="en-US" sz="2400" dirty="0"/>
              <a:t>• Indicates need for better resource allocation across departments</a:t>
            </a:r>
            <a:endParaRPr lang="en-IN" sz="24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D0421FA-A969-80BD-446D-E29823F845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61047" y="1762433"/>
            <a:ext cx="6225194" cy="352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298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1134B-DC3A-06C6-EE57-97EECD2B6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94968"/>
            <a:ext cx="10408315" cy="766916"/>
          </a:xfrm>
        </p:spPr>
        <p:txBody>
          <a:bodyPr>
            <a:normAutofit/>
          </a:bodyPr>
          <a:lstStyle/>
          <a:p>
            <a:pPr algn="ctr"/>
            <a:r>
              <a:rPr lang="en-IN" sz="4400" b="1" dirty="0">
                <a:latin typeface="+mn-lt"/>
              </a:rPr>
              <a:t>Demographics Impact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95B376-CB37-63A5-A854-AFA859960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1258529"/>
            <a:ext cx="4083768" cy="4610459"/>
          </a:xfrm>
        </p:spPr>
        <p:txBody>
          <a:bodyPr>
            <a:noAutofit/>
          </a:bodyPr>
          <a:lstStyle/>
          <a:p>
            <a:r>
              <a:rPr lang="en-US" sz="2400" dirty="0"/>
              <a:t>• General Practice is the most visited department across all age groups</a:t>
            </a:r>
            <a:br>
              <a:rPr lang="en-US" sz="2400" dirty="0"/>
            </a:br>
            <a:r>
              <a:rPr lang="en-US" sz="2400" dirty="0"/>
              <a:t>• Younger age groups (0–18, 19–35) have higher hospital visits</a:t>
            </a:r>
            <a:br>
              <a:rPr lang="en-US" sz="2400" dirty="0"/>
            </a:br>
            <a:r>
              <a:rPr lang="en-US" sz="2400" dirty="0"/>
              <a:t>• Patient visits gradually decrease with increasing age</a:t>
            </a:r>
            <a:br>
              <a:rPr lang="en-US" sz="2400" dirty="0"/>
            </a:br>
            <a:r>
              <a:rPr lang="en-US" sz="2400" dirty="0"/>
              <a:t>• Specialized departments have relatively lower visits across all age groups</a:t>
            </a:r>
            <a:br>
              <a:rPr lang="en-US" sz="2400" dirty="0"/>
            </a:br>
            <a:r>
              <a:rPr lang="en-US" sz="2400" dirty="0"/>
              <a:t>• Indicates higher dependency on general healthcare services among all demographics</a:t>
            </a:r>
            <a:endParaRPr lang="en-IN" sz="24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04A8427-F8B5-9FD9-0120-737F4E6937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49007" y="1329569"/>
            <a:ext cx="6908872" cy="4420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97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13531-D69A-A618-45AD-3F8C35FF7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8046" y="-217898"/>
            <a:ext cx="8992470" cy="1102801"/>
          </a:xfrm>
        </p:spPr>
        <p:txBody>
          <a:bodyPr>
            <a:normAutofit/>
          </a:bodyPr>
          <a:lstStyle/>
          <a:p>
            <a:pPr algn="ctr"/>
            <a:r>
              <a:rPr lang="en-IN" sz="4400" b="1" dirty="0">
                <a:latin typeface="+mn-lt"/>
              </a:rPr>
              <a:t>Discount Strategy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9356A0-7AD0-BCD3-EE15-9FB7C7A336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1782" y="1504335"/>
            <a:ext cx="4290244" cy="4364653"/>
          </a:xfrm>
        </p:spPr>
        <p:txBody>
          <a:bodyPr>
            <a:noAutofit/>
          </a:bodyPr>
          <a:lstStyle/>
          <a:p>
            <a:r>
              <a:rPr lang="en-US" sz="2400" dirty="0"/>
              <a:t>High and Medium discount categories have the highest patient count</a:t>
            </a:r>
            <a:br>
              <a:rPr lang="en-US" sz="2400" dirty="0"/>
            </a:br>
            <a:r>
              <a:rPr lang="en-US" sz="2400" dirty="0"/>
              <a:t>• Low discount category has significantly fewer patients</a:t>
            </a:r>
            <a:br>
              <a:rPr lang="en-US" sz="2400" dirty="0"/>
            </a:br>
            <a:r>
              <a:rPr lang="en-US" sz="2400" dirty="0"/>
              <a:t>• Patient satisfaction is highest in the Low discount category</a:t>
            </a:r>
            <a:br>
              <a:rPr lang="en-US" sz="2400" dirty="0"/>
            </a:br>
            <a:r>
              <a:rPr lang="en-US" sz="2400" dirty="0"/>
              <a:t>• High discount category shows the lowest satisfaction levels</a:t>
            </a:r>
            <a:br>
              <a:rPr lang="en-US" sz="2400" dirty="0"/>
            </a:br>
            <a:r>
              <a:rPr lang="en-US" sz="2400" dirty="0"/>
              <a:t>• Indicates that higher discounts are linked with lower satisfaction and higher issues (like long wait time)</a:t>
            </a:r>
            <a:endParaRPr lang="en-IN" sz="24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6311D95-86CD-3ACF-819B-18263D4F1B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46781" y="1504335"/>
            <a:ext cx="3218869" cy="39895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4F2029-6314-0229-969A-02A0B84C7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405" y="1572111"/>
            <a:ext cx="3287799" cy="3854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229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E049C-DC68-C8F4-2933-865EB7FBA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044522" cy="781665"/>
          </a:xfrm>
        </p:spPr>
        <p:txBody>
          <a:bodyPr>
            <a:normAutofit/>
          </a:bodyPr>
          <a:lstStyle/>
          <a:p>
            <a:pPr algn="ctr"/>
            <a:r>
              <a:rPr lang="en-IN" sz="4400" b="1" dirty="0">
                <a:latin typeface="+mn-lt"/>
              </a:rPr>
              <a:t>Hiring Recommendation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73ABF3-F156-C7CE-CC78-53C71796ED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4466" y="1634867"/>
            <a:ext cx="4447560" cy="4234121"/>
          </a:xfrm>
        </p:spPr>
        <p:txBody>
          <a:bodyPr>
            <a:noAutofit/>
          </a:bodyPr>
          <a:lstStyle/>
          <a:p>
            <a:r>
              <a:rPr lang="en-US" sz="2400" dirty="0"/>
              <a:t>General Practice has the highest patient load among all departments</a:t>
            </a:r>
            <a:br>
              <a:rPr lang="en-US" sz="2400" dirty="0"/>
            </a:br>
            <a:r>
              <a:rPr lang="en-US" sz="2400" dirty="0"/>
              <a:t>• Orthopedics is the second most demanded department</a:t>
            </a:r>
            <a:br>
              <a:rPr lang="en-US" sz="2400" dirty="0"/>
            </a:br>
            <a:r>
              <a:rPr lang="en-US" sz="2400" dirty="0"/>
              <a:t>• Other departments have significantly lower patient visits</a:t>
            </a:r>
            <a:br>
              <a:rPr lang="en-US" sz="2400" dirty="0"/>
            </a:br>
            <a:r>
              <a:rPr lang="en-US" sz="2400" dirty="0"/>
              <a:t>• High workload indicates need for additional doctors in key departments</a:t>
            </a:r>
            <a:br>
              <a:rPr lang="en-US" sz="2400" dirty="0"/>
            </a:br>
            <a:r>
              <a:rPr lang="en-US" sz="2400" dirty="0"/>
              <a:t>• Hiring in General Practice and Orthopedics can improve efficiency and reduce wait time</a:t>
            </a:r>
            <a:endParaRPr lang="en-IN" sz="24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A86FE92-9E3A-CF43-9309-9DED8EA0EA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99847" y="1634867"/>
            <a:ext cx="6991795" cy="402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62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A9C92-3451-645A-D139-685302605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45967" cy="742335"/>
          </a:xfrm>
        </p:spPr>
        <p:txBody>
          <a:bodyPr>
            <a:normAutofit/>
          </a:bodyPr>
          <a:lstStyle/>
          <a:p>
            <a:pPr algn="ctr"/>
            <a:r>
              <a:rPr lang="en-IN" sz="4400" b="1" dirty="0">
                <a:latin typeface="+mn-lt"/>
              </a:rPr>
              <a:t>Profitability Analysis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07C83-969F-1260-9728-8E0C5F6728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607" y="1524000"/>
            <a:ext cx="3955948" cy="3888054"/>
          </a:xfrm>
        </p:spPr>
        <p:txBody>
          <a:bodyPr>
            <a:noAutofit/>
          </a:bodyPr>
          <a:lstStyle/>
          <a:p>
            <a:r>
              <a:rPr lang="en-US" sz="2400" dirty="0"/>
              <a:t>Orthopedics generates the highest revenue among all departments</a:t>
            </a:r>
            <a:br>
              <a:rPr lang="en-US" sz="2400" dirty="0"/>
            </a:br>
            <a:r>
              <a:rPr lang="en-US" sz="2400" dirty="0"/>
              <a:t>• General Practice is the second highest revenue contributor</a:t>
            </a:r>
            <a:br>
              <a:rPr lang="en-US" sz="2400" dirty="0"/>
            </a:br>
            <a:r>
              <a:rPr lang="en-US" sz="2400" dirty="0"/>
              <a:t>• Neurology and Cardiology contribute moderate revenue</a:t>
            </a:r>
            <a:br>
              <a:rPr lang="en-US" sz="2400" dirty="0"/>
            </a:br>
            <a:r>
              <a:rPr lang="en-US" sz="2400" dirty="0"/>
              <a:t>• Other departments generate relatively low revenue</a:t>
            </a:r>
            <a:br>
              <a:rPr lang="en-US" sz="2400" dirty="0"/>
            </a:br>
            <a:r>
              <a:rPr lang="en-US" sz="2400" dirty="0"/>
              <a:t>• Hospital shows strong revenue concentration in top departments</a:t>
            </a:r>
            <a:endParaRPr lang="en-IN" sz="24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A813FD7-5B2B-DBE8-39D3-B369B4B726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2025" y="1600466"/>
            <a:ext cx="7125007" cy="4268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493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17EC0-E7D3-A2DF-7C3D-DC0F5737E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9877373" cy="732503"/>
          </a:xfrm>
        </p:spPr>
        <p:txBody>
          <a:bodyPr>
            <a:normAutofit/>
          </a:bodyPr>
          <a:lstStyle/>
          <a:p>
            <a:pPr algn="ctr"/>
            <a:r>
              <a:rPr lang="en-IN" sz="4400" b="1" dirty="0">
                <a:latin typeface="+mn-lt"/>
              </a:rPr>
              <a:t>Doctor Shift Strategy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A5BE23-E7C3-0C11-F300-6AA145CE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1948" y="1600383"/>
            <a:ext cx="4300077" cy="4268605"/>
          </a:xfrm>
        </p:spPr>
        <p:txBody>
          <a:bodyPr>
            <a:noAutofit/>
          </a:bodyPr>
          <a:lstStyle/>
          <a:p>
            <a:r>
              <a:rPr lang="en-US" sz="2400" dirty="0"/>
              <a:t>Patient visits fluctuate significantly across months</a:t>
            </a:r>
            <a:br>
              <a:rPr lang="en-US" sz="2400" dirty="0"/>
            </a:br>
            <a:r>
              <a:rPr lang="en-US" sz="2400" dirty="0"/>
              <a:t>• Peak visits observed in August and May</a:t>
            </a:r>
            <a:br>
              <a:rPr lang="en-US" sz="2400" dirty="0"/>
            </a:br>
            <a:r>
              <a:rPr lang="en-US" sz="2400" dirty="0"/>
              <a:t>• Lowest visits recorded in February and November</a:t>
            </a:r>
            <a:br>
              <a:rPr lang="en-US" sz="2400" dirty="0"/>
            </a:br>
            <a:r>
              <a:rPr lang="en-US" sz="2400" dirty="0"/>
              <a:t>• Sudden drops and spikes indicate irregular demand patterns</a:t>
            </a:r>
            <a:br>
              <a:rPr lang="en-US" sz="2400" dirty="0"/>
            </a:br>
            <a:r>
              <a:rPr lang="en-US" sz="2400" dirty="0"/>
              <a:t>• Suggests need for better planning during peak and low periods</a:t>
            </a:r>
            <a:endParaRPr lang="en-IN" sz="24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0FCF3AC-6E54-A28C-8829-6F12E7B886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2246" y="1522595"/>
            <a:ext cx="7362798" cy="426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040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EF3128E-DFCB-DD52-9110-6CCD5D9F8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490" y="1"/>
            <a:ext cx="10515600" cy="973393"/>
          </a:xfrm>
        </p:spPr>
        <p:txBody>
          <a:bodyPr/>
          <a:lstStyle/>
          <a:p>
            <a:pPr algn="ctr"/>
            <a:r>
              <a:rPr lang="en-IN" b="1" dirty="0">
                <a:latin typeface="+mn-lt"/>
              </a:rPr>
              <a:t>Main Dashboard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C583813-F0AA-B9CF-3D5C-4718A68646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73393"/>
            <a:ext cx="12191999" cy="588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1340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6D728-A860-7C34-DDDE-2472C08D4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67148"/>
            <a:ext cx="10515600" cy="1543664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+mn-lt"/>
              </a:rPr>
              <a:t>Doctors Dashboard</a:t>
            </a:r>
            <a:br>
              <a:rPr lang="en-IN" b="1" dirty="0">
                <a:latin typeface="+mn-lt"/>
              </a:rPr>
            </a:br>
            <a:endParaRPr lang="en-IN" b="1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3D6FBC-E95D-9BEE-0586-E49EF78DB3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75072"/>
            <a:ext cx="12192000" cy="5982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25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06441-49BE-6B1C-1AF1-5F4C72EF6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7483"/>
            <a:ext cx="10515600" cy="1229031"/>
          </a:xfrm>
        </p:spPr>
        <p:txBody>
          <a:bodyPr/>
          <a:lstStyle/>
          <a:p>
            <a:pPr algn="ctr"/>
            <a:r>
              <a:rPr lang="en-IN" b="1" dirty="0">
                <a:latin typeface="+mn-lt"/>
              </a:rPr>
              <a:t>Patients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914D6E-016E-5EAE-C141-873BEB0745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081548"/>
            <a:ext cx="12192000" cy="5776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5715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57A0E-F127-DC11-A138-FF80B037D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970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+mn-lt"/>
              </a:rPr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6ACA7-B731-BA9C-8215-753F6D583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</a:t>
            </a:r>
            <a:r>
              <a:rPr lang="en-US" sz="2400" dirty="0"/>
              <a:t>Patient visits show clear monthly fluctuations, indicating seasonal demand patterns</a:t>
            </a:r>
            <a:br>
              <a:rPr lang="en-US" sz="2400" dirty="0"/>
            </a:br>
            <a:r>
              <a:rPr lang="en-US" sz="2400" dirty="0"/>
              <a:t>• General Practice and Orthopedics handle the majority of patient load and revenue</a:t>
            </a:r>
            <a:br>
              <a:rPr lang="en-US" sz="2400" dirty="0"/>
            </a:br>
            <a:r>
              <a:rPr lang="en-US" sz="2400" dirty="0"/>
              <a:t>• Higher waiting time negatively impacts patient satisfaction</a:t>
            </a:r>
            <a:br>
              <a:rPr lang="en-US" sz="2400" dirty="0"/>
            </a:br>
            <a:r>
              <a:rPr lang="en-US" sz="2400" dirty="0"/>
              <a:t>• Demographic factors influence department preferences and hospital usage</a:t>
            </a:r>
            <a:br>
              <a:rPr lang="en-US" sz="2400" dirty="0"/>
            </a:br>
            <a:r>
              <a:rPr lang="en-US" sz="2400" dirty="0"/>
              <a:t>• Implementing strategies like hiring, shift planning, and targeted discounts can improve efficiency and patient experience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8154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FB75C9-F10C-E0EE-106F-1EEFAA0DE0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+mn-lt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209404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53D59-AA02-EA5F-071F-DC1BDC3BF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2A166-1EB9-AF64-57C6-3CA046799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651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</TotalTime>
  <Words>725</Words>
  <Application>Microsoft Office PowerPoint</Application>
  <PresentationFormat>Widescreen</PresentationFormat>
  <Paragraphs>52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Constantia</vt:lpstr>
      <vt:lpstr>Office Theme</vt:lpstr>
      <vt:lpstr>Columbia Asia Hospital Project </vt:lpstr>
      <vt:lpstr>AGENDA </vt:lpstr>
      <vt:lpstr>PROBLEM STATEMENT</vt:lpstr>
      <vt:lpstr>PROBLEM STATEMENT</vt:lpstr>
      <vt:lpstr>DATA DESCRIPTION</vt:lpstr>
      <vt:lpstr>Analysis Objectives</vt:lpstr>
      <vt:lpstr>Monthly Patient Visits Analysis</vt:lpstr>
      <vt:lpstr>Wait Time vs Satisfaction </vt:lpstr>
      <vt:lpstr>Department-wise Patient Load </vt:lpstr>
      <vt:lpstr>Demographics Impact</vt:lpstr>
      <vt:lpstr>Discount Strategy</vt:lpstr>
      <vt:lpstr>Hiring Recommendation </vt:lpstr>
      <vt:lpstr>Profitability Analysis </vt:lpstr>
      <vt:lpstr>Doctor Shift Strategy</vt:lpstr>
      <vt:lpstr>Main Dashboard</vt:lpstr>
      <vt:lpstr>Doctors Dashboard </vt:lpstr>
      <vt:lpstr>Patients Dashboard</vt:lpstr>
      <vt:lpstr>Conclusion:</vt:lpstr>
      <vt:lpstr>THANK YOU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Saurav Sharma</dc:creator>
  <cp:lastModifiedBy>Saurav Sharma</cp:lastModifiedBy>
  <cp:revision>2</cp:revision>
  <dcterms:created xsi:type="dcterms:W3CDTF">2026-03-20T11:57:21Z</dcterms:created>
  <dcterms:modified xsi:type="dcterms:W3CDTF">2026-03-20T15:25:58Z</dcterms:modified>
</cp:coreProperties>
</file>